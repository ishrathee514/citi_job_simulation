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886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orient="horz" pos="936" userDrawn="1">
          <p15:clr>
            <a:srgbClr val="A4A3A4"/>
          </p15:clr>
        </p15:guide>
        <p15:guide id="4" orient="horz" pos="2520" userDrawn="1">
          <p15:clr>
            <a:srgbClr val="A4A3A4"/>
          </p15:clr>
        </p15:guide>
        <p15:guide id="5" orient="horz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948"/>
    <a:srgbClr val="9BBB59"/>
    <a:srgbClr val="2A3647"/>
    <a:srgbClr val="BFBFBF"/>
    <a:srgbClr val="558ED5"/>
    <a:srgbClr val="E6E6E6"/>
    <a:srgbClr val="DCE6F1"/>
    <a:srgbClr val="FDFF5A"/>
    <a:srgbClr val="546C8D"/>
    <a:srgbClr val="C6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54448" autoAdjust="0"/>
  </p:normalViewPr>
  <p:slideViewPr>
    <p:cSldViewPr snapToGrid="0">
      <p:cViewPr varScale="1">
        <p:scale>
          <a:sx n="61" d="100"/>
          <a:sy n="61" d="100"/>
        </p:scale>
        <p:origin x="3552" y="72"/>
      </p:cViewPr>
      <p:guideLst>
        <p:guide orient="horz" pos="2736"/>
        <p:guide pos="264"/>
        <p:guide orient="horz" pos="936"/>
        <p:guide orient="horz" pos="2520"/>
        <p:guide orient="horz" pos="3312"/>
      </p:guideLst>
    </p:cSldViewPr>
  </p:slideViewPr>
  <p:notesTextViewPr>
    <p:cViewPr>
      <p:scale>
        <a:sx n="1" d="1"/>
        <a:sy n="1" d="1"/>
      </p:scale>
      <p:origin x="0" y="-166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1"/>
          </a:xfrm>
          <a:prstGeom prst="rect">
            <a:avLst/>
          </a:prstGeom>
        </p:spPr>
        <p:txBody>
          <a:bodyPr vert="horz" lIns="93312" tIns="46657" rIns="93312" bIns="46657" rtlCol="0"/>
          <a:lstStyle>
            <a:lvl1pPr algn="r">
              <a:defRPr sz="1200"/>
            </a:lvl1pPr>
          </a:lstStyle>
          <a:p>
            <a:fld id="{849BD7E0-0735-4C51-BED6-85D331CB9D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2" tIns="46657" rIns="93312" bIns="4665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9"/>
          </a:xfrm>
          <a:prstGeom prst="rect">
            <a:avLst/>
          </a:prstGeom>
        </p:spPr>
        <p:txBody>
          <a:bodyPr vert="horz" lIns="93312" tIns="46657" rIns="93312" bIns="4665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1"/>
            <a:ext cx="3043343" cy="467070"/>
          </a:xfrm>
          <a:prstGeom prst="rect">
            <a:avLst/>
          </a:prstGeom>
        </p:spPr>
        <p:txBody>
          <a:bodyPr vert="horz" lIns="93312" tIns="46657" rIns="93312" bIns="46657" rtlCol="0" anchor="b"/>
          <a:lstStyle>
            <a:lvl1pPr algn="r">
              <a:defRPr sz="1200"/>
            </a:lvl1pPr>
          </a:lstStyle>
          <a:p>
            <a:fld id="{99FF416D-3A13-4461-9A32-8814D42D49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2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  <a:p>
            <a:r>
              <a:rPr lang="en-US" sz="900" dirty="0"/>
              <a:t>Founded: 1966</a:t>
            </a:r>
          </a:p>
          <a:p>
            <a:r>
              <a:rPr lang="en-US" sz="900" dirty="0"/>
              <a:t>Headquarters: Minneapolis, Minnesota, USA</a:t>
            </a:r>
          </a:p>
          <a:p>
            <a:r>
              <a:rPr lang="en-US" sz="900" dirty="0"/>
              <a:t>Number of Stores: 1,144</a:t>
            </a:r>
          </a:p>
          <a:p>
            <a:r>
              <a:rPr lang="en-US" sz="900" dirty="0"/>
              <a:t>Revenue: $51.3B</a:t>
            </a:r>
          </a:p>
          <a:p>
            <a:r>
              <a:rPr lang="en-US" sz="900" dirty="0"/>
              <a:t>EBITDA: $3.3B</a:t>
            </a:r>
          </a:p>
          <a:p>
            <a:endParaRPr lang="en-US" sz="900" dirty="0"/>
          </a:p>
          <a:p>
            <a:r>
              <a:rPr lang="en-US" sz="900" dirty="0"/>
              <a:t>Enterprise Value</a:t>
            </a:r>
          </a:p>
          <a:p>
            <a:r>
              <a:rPr lang="en-US" sz="900" dirty="0"/>
              <a:t>Share Price: $80.89</a:t>
            </a:r>
          </a:p>
          <a:p>
            <a:r>
              <a:rPr lang="en-US" sz="900" dirty="0"/>
              <a:t>Shares Outstanding: 225.5 mm</a:t>
            </a:r>
          </a:p>
          <a:p>
            <a:r>
              <a:rPr lang="en-US" sz="900" dirty="0"/>
              <a:t>Market Cap: $18,238 mm</a:t>
            </a:r>
          </a:p>
          <a:p>
            <a:r>
              <a:rPr lang="en-US" sz="900" dirty="0"/>
              <a:t>Add: Short-Term Debt: $16 mm</a:t>
            </a:r>
          </a:p>
          <a:p>
            <a:r>
              <a:rPr lang="en-US" sz="900" dirty="0"/>
              <a:t>Add: Long-Term Debt: $1,142 mm</a:t>
            </a:r>
          </a:p>
          <a:p>
            <a:r>
              <a:rPr lang="en-US" sz="900" dirty="0"/>
              <a:t>Less: Cash &amp; Equivalents: ($932 mm)</a:t>
            </a:r>
          </a:p>
          <a:p>
            <a:r>
              <a:rPr lang="en-US" sz="900" dirty="0"/>
              <a:t>Total Enterprise Value: $18,464 mm</a:t>
            </a:r>
          </a:p>
          <a:p>
            <a:endParaRPr lang="en-US" sz="900" dirty="0"/>
          </a:p>
          <a:p>
            <a:r>
              <a:rPr lang="en-US" sz="900" dirty="0"/>
              <a:t>Business Overview</a:t>
            </a:r>
          </a:p>
          <a:p>
            <a:r>
              <a:rPr lang="en-US" sz="900" dirty="0"/>
              <a:t>Best Buy is a leading U.S. consumer electronics retailer operating an omnichannel model</a:t>
            </a:r>
          </a:p>
          <a:p>
            <a:r>
              <a:rPr lang="en-US" sz="900" dirty="0"/>
              <a:t>combining physical stores and e-commerce. The company sells computing devices,</a:t>
            </a:r>
          </a:p>
          <a:p>
            <a:r>
              <a:rPr lang="en-US" sz="900" dirty="0"/>
              <a:t>mobile phones, appliances, consumer electronics, entertainment products and</a:t>
            </a:r>
          </a:p>
          <a:p>
            <a:r>
              <a:rPr lang="en-US" sz="900" dirty="0"/>
              <a:t>technology services including installation and technical support.</a:t>
            </a:r>
          </a:p>
          <a:p>
            <a:endParaRPr lang="en-US" sz="900" dirty="0"/>
          </a:p>
          <a:p>
            <a:r>
              <a:rPr lang="en-US" sz="900" dirty="0"/>
              <a:t>Recent News</a:t>
            </a:r>
          </a:p>
          <a:p>
            <a:r>
              <a:rPr lang="en-US" sz="900" dirty="0"/>
              <a:t>Best Buy introduced a paid membership program (Best Buy </a:t>
            </a:r>
            <a:r>
              <a:rPr lang="en-US" sz="900" dirty="0" err="1"/>
              <a:t>Totaltech</a:t>
            </a:r>
            <a:r>
              <a:rPr lang="en-US" sz="900" dirty="0"/>
              <a:t>) aimed at building</a:t>
            </a:r>
          </a:p>
          <a:p>
            <a:r>
              <a:rPr lang="en-US" sz="900" dirty="0"/>
              <a:t>recurring revenue through subscription services, increasing customer loyalty, and</a:t>
            </a:r>
          </a:p>
          <a:p>
            <a:r>
              <a:rPr lang="en-US" sz="900" dirty="0"/>
              <a:t>expanding its services ecosystem.</a:t>
            </a:r>
          </a:p>
          <a:p>
            <a:endParaRPr lang="en-US" sz="900" dirty="0"/>
          </a:p>
          <a:p>
            <a:r>
              <a:rPr lang="en-US" sz="900" dirty="0"/>
              <a:t>Leadership Team</a:t>
            </a:r>
          </a:p>
          <a:p>
            <a:r>
              <a:rPr lang="en-US" sz="900" dirty="0"/>
              <a:t>CEO – Corie Barry</a:t>
            </a:r>
          </a:p>
          <a:p>
            <a:r>
              <a:rPr lang="en-US" sz="900" dirty="0"/>
              <a:t>CFO – Matt </a:t>
            </a:r>
            <a:r>
              <a:rPr lang="en-US" sz="900" dirty="0" err="1"/>
              <a:t>Bilunas</a:t>
            </a:r>
            <a:endParaRPr lang="en-US" sz="900" dirty="0"/>
          </a:p>
          <a:p>
            <a:r>
              <a:rPr lang="en-US" sz="900" dirty="0"/>
              <a:t>Chief Merchandising Officer – Jason </a:t>
            </a:r>
            <a:r>
              <a:rPr lang="en-US" sz="900" dirty="0" err="1"/>
              <a:t>Bonfig</a:t>
            </a:r>
            <a:endParaRPr lang="en-US" sz="900" dirty="0"/>
          </a:p>
          <a:p>
            <a:r>
              <a:rPr lang="en-US" sz="900" dirty="0"/>
              <a:t>Chief Supply Chain Officer – Rob Bass</a:t>
            </a:r>
          </a:p>
          <a:p>
            <a:r>
              <a:rPr lang="en-US" sz="900" dirty="0"/>
              <a:t>Chief Customer Officer – Allison Peterson</a:t>
            </a:r>
          </a:p>
          <a:p>
            <a:r>
              <a:rPr lang="en-US" sz="900" dirty="0"/>
              <a:t>Chief Technology Officer – Brian </a:t>
            </a:r>
            <a:r>
              <a:rPr lang="en-US" sz="900" dirty="0" err="1"/>
              <a:t>Tilzer</a:t>
            </a:r>
            <a:endParaRPr lang="en-US" sz="900" dirty="0"/>
          </a:p>
          <a:p>
            <a:r>
              <a:rPr lang="en-US" sz="900" dirty="0"/>
              <a:t>Chief Risk Officer – Todd Hartman</a:t>
            </a:r>
          </a:p>
          <a:p>
            <a:endParaRPr lang="en-US" sz="900"/>
          </a:p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62F593-AD9B-4352-A2D4-D77C9B23497F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1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9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676400" y="381000"/>
            <a:ext cx="7162800" cy="304800"/>
          </a:xfrm>
        </p:spPr>
        <p:txBody>
          <a:bodyPr/>
          <a:lstStyle>
            <a:lvl1pPr algn="r">
              <a:buNone/>
              <a:defRPr b="1" i="1">
                <a:solidFill>
                  <a:schemeClr val="accent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0124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0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152401"/>
            <a:ext cx="8534400" cy="533400"/>
          </a:xfrm>
        </p:spPr>
        <p:txBody>
          <a:bodyPr/>
          <a:lstStyle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1500" b="0" kern="1200" cap="none" baseline="0" dirty="0">
                <a:solidFill>
                  <a:schemeClr val="tx1"/>
                </a:solidFill>
                <a:latin typeface="+mn-lt"/>
                <a:ea typeface="Roboto Lt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69901" y="990600"/>
            <a:ext cx="8204200" cy="1125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fontAlgn="base" latinLnBrk="0" hangingPunct="1">
              <a:lnSpc>
                <a:spcPct val="114000"/>
              </a:lnSpc>
              <a:spcBef>
                <a:spcPts val="1200"/>
              </a:spcBef>
              <a:spcAft>
                <a:spcPts val="900"/>
              </a:spcAft>
              <a:buClrTx/>
              <a:buSzPct val="100000"/>
              <a:buFont typeface="Wingdings" pitchFamily="2" charset="2"/>
              <a:buNone/>
              <a:defRPr lang="en-US" sz="1200" b="1" kern="1200" dirty="0" smtClean="0">
                <a:solidFill>
                  <a:schemeClr val="tx1"/>
                </a:solidFill>
                <a:latin typeface="Roboto Lt" pitchFamily="2" charset="0"/>
                <a:ea typeface="Roboto Lt" pitchFamily="2" charset="0"/>
                <a:cs typeface="Helvetica" panose="020B0604020202020204" pitchFamily="34" charset="0"/>
              </a:defRPr>
            </a:lvl1pPr>
            <a:lvl2pPr marL="410779" indent="-204794">
              <a:buClrTx/>
              <a:buSzPct val="100000"/>
              <a:buFont typeface="Wingdings" panose="05000000000000000000" pitchFamily="2" charset="2"/>
              <a:buChar char="§"/>
              <a:defRPr lang="en-US" sz="7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16763" indent="-171456">
              <a:buFont typeface="Wingdings" panose="05000000000000000000" pitchFamily="2" charset="2"/>
              <a:buChar char="q"/>
              <a:defRPr lang="en-US" sz="6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04794" lvl="0" indent="-204794" algn="l" rtl="0" eaLnBrk="1" fontAlgn="base" hangingPunct="1">
              <a:lnSpc>
                <a:spcPct val="114000"/>
              </a:lnSpc>
              <a:spcBef>
                <a:spcPts val="45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616763" lvl="2" indent="-171456" algn="l" rtl="0" eaLnBrk="1" fontAlgn="base" hangingPunct="1">
              <a:spcBef>
                <a:spcPct val="0"/>
              </a:spcBef>
              <a:spcAft>
                <a:spcPts val="225"/>
              </a:spcAft>
              <a:buClrTx/>
              <a:buSzPct val="76000"/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</p:txBody>
      </p:sp>
      <p:sp>
        <p:nvSpPr>
          <p:cNvPr id="8" name="Slide Number Placeholder 22"/>
          <p:cNvSpPr txBox="1">
            <a:spLocks/>
          </p:cNvSpPr>
          <p:nvPr userDrawn="1"/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55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766D-D653-4AB1-AA73-807F6173D2D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6DCD-4470-47B1-B94E-BB0D31D5A9D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6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304800" y="838200"/>
            <a:ext cx="8534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7"/>
          </p:nvPr>
        </p:nvSpPr>
        <p:spPr>
          <a:xfrm>
            <a:off x="8224838" y="6575425"/>
            <a:ext cx="1071562" cy="2254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BF985-C6E2-4259-BC55-A2442D7D7EC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lumMod val="65000"/>
                    <a:lumOff val="35000"/>
                  </a:srgbClr>
                </a:solidFill>
              </a:rPr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41238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294438"/>
            <a:ext cx="8534400" cy="18256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/>
              <a:t>(1) Potential extension of the forbearance agreement would be subject to achieving certain milestones (e.g. execution of a letter of intent with a credible buyer)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255000" y="6562725"/>
            <a:ext cx="1071562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04800" y="838200"/>
            <a:ext cx="8531352" cy="5184648"/>
          </a:xfrm>
          <a:prstGeom prst="rect">
            <a:avLst/>
          </a:prstGeom>
        </p:spPr>
        <p:txBody>
          <a:bodyPr/>
          <a:lstStyle>
            <a:lvl1pPr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96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273050" lvl="0" indent="-273050" algn="l" rtl="0" eaLnBrk="1" fontAlgn="base" hangingPunct="1">
              <a:lnSpc>
                <a:spcPct val="114000"/>
              </a:lnSpc>
              <a:spcBef>
                <a:spcPts val="600"/>
              </a:spcBef>
              <a:spcAft>
                <a:spcPct val="0"/>
              </a:spcAft>
              <a:buClrTx/>
              <a:buSzPct val="76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547688" lvl="1" indent="-273050" algn="l" rtl="0" eaLnBrk="1" fontAlgn="base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marL="822325" lvl="2" indent="-228600" algn="l" rtl="0" eaLnBrk="1" fontAlgn="base" hangingPunct="1">
              <a:spcBef>
                <a:spcPct val="0"/>
              </a:spcBef>
              <a:spcAft>
                <a:spcPts val="300"/>
              </a:spcAft>
              <a:buClrTx/>
              <a:buSzPct val="76000"/>
              <a:buFont typeface="Wingdings 3" pitchFamily="18" charset="2"/>
              <a:buChar char="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2910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228601" y="152401"/>
            <a:ext cx="861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1" y="838200"/>
            <a:ext cx="8534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410779" lvl="1" indent="-204794" algn="l" rtl="0" eaLnBrk="1" fontAlgn="base" hangingPunct="1">
              <a:lnSpc>
                <a:spcPct val="114000"/>
              </a:lnSpc>
              <a:spcBef>
                <a:spcPts val="225"/>
              </a:spcBef>
              <a:spcAft>
                <a:spcPts val="225"/>
              </a:spcAft>
              <a:buClrTx/>
              <a:buSzPct val="76000"/>
              <a:buFont typeface="Wingdings" pitchFamily="2" charset="2"/>
              <a:buChar char="q"/>
              <a:defRPr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04801" y="6294440"/>
            <a:ext cx="8534400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675" i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04800" y="685801"/>
            <a:ext cx="8504238" cy="8573"/>
          </a:xfrm>
          <a:prstGeom prst="rect">
            <a:avLst/>
          </a:prstGeom>
          <a:solidFill>
            <a:schemeClr val="tx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50000"/>
              </a:spcBef>
              <a:buClr>
                <a:prstClr val="white"/>
              </a:buClr>
              <a:buSzPct val="80000"/>
              <a:buFont typeface="Wingdings" pitchFamily="2" charset="2"/>
              <a:buNone/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4800" y="838203"/>
            <a:ext cx="8503920" cy="5949953"/>
          </a:xfrm>
          <a:prstGeom prst="rect">
            <a:avLst/>
          </a:prstGeom>
          <a:solidFill>
            <a:srgbClr val="E6E6E6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84221" y="6556375"/>
            <a:ext cx="375557" cy="225425"/>
          </a:xfrm>
          <a:prstGeom prst="rect">
            <a:avLst/>
          </a:prstGeom>
        </p:spPr>
        <p:txBody>
          <a:bodyPr vert="horz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51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E597324-71BB-4312-8794-C30754F659B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460607" y="6667276"/>
            <a:ext cx="283464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843398" y="6667276"/>
            <a:ext cx="3657600" cy="0"/>
          </a:xfrm>
          <a:prstGeom prst="line">
            <a:avLst/>
          </a:prstGeom>
          <a:ln w="9525" cmpd="sng">
            <a:solidFill>
              <a:srgbClr val="68686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77" r:id="rId2"/>
    <p:sldLayoutId id="2147483673" r:id="rId3"/>
    <p:sldLayoutId id="2147483692" r:id="rId4"/>
    <p:sldLayoutId id="2147483697" r:id="rId5"/>
    <p:sldLayoutId id="2147483698" r:id="rId6"/>
  </p:sldLayoutIdLst>
  <p:txStyles>
    <p:titleStyle>
      <a:lvl1pPr marL="0" algn="l" defTabSz="914400" rtl="0" eaLnBrk="1" fontAlgn="base" latinLnBrk="0" hangingPunct="1">
        <a:spcBef>
          <a:spcPct val="0"/>
        </a:spcBef>
        <a:spcAft>
          <a:spcPct val="0"/>
        </a:spcAft>
        <a:defRPr lang="en-US" sz="1600" b="0" kern="1200" cap="all" baseline="0" dirty="0" smtClean="0">
          <a:solidFill>
            <a:schemeClr val="tx1"/>
          </a:solidFill>
          <a:latin typeface="Roboto Lt" pitchFamily="2" charset="0"/>
          <a:ea typeface="+mj-ea"/>
          <a:cs typeface="Helvetica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>
          <a:solidFill>
            <a:srgbClr val="2A3647"/>
          </a:solidFill>
          <a:latin typeface="Cambria" pitchFamily="18" charset="0"/>
        </a:defRPr>
      </a:lvl5pPr>
      <a:lvl6pPr marL="34291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6pPr>
      <a:lvl7pPr marL="685821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7pPr>
      <a:lvl8pPr marL="1028732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8pPr>
      <a:lvl9pPr marL="1371643"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Cambria" pitchFamily="18" charset="0"/>
        </a:defRPr>
      </a:lvl9pPr>
    </p:titleStyle>
    <p:bodyStyle>
      <a:lvl1pPr marL="204794" indent="-204794" algn="l" rtl="0" eaLnBrk="1" fontAlgn="base" hangingPunct="1">
        <a:lnSpc>
          <a:spcPct val="114000"/>
        </a:lnSpc>
        <a:spcBef>
          <a:spcPts val="900"/>
        </a:spcBef>
        <a:spcAft>
          <a:spcPct val="0"/>
        </a:spcAft>
        <a:buClrTx/>
        <a:buSzPct val="100000"/>
        <a:buFont typeface="Wingdings" pitchFamily="2" charset="2"/>
        <a:buChar char="§"/>
        <a:defRPr sz="788" kern="1200">
          <a:solidFill>
            <a:schemeClr val="tx1"/>
          </a:solidFill>
          <a:latin typeface="+mn-lt"/>
          <a:ea typeface="+mn-ea"/>
          <a:cs typeface="+mn-cs"/>
        </a:defRPr>
      </a:lvl1pPr>
      <a:lvl2pPr marL="410779" indent="-204794" algn="l" rtl="0" eaLnBrk="1" fontAlgn="base" hangingPunct="1">
        <a:lnSpc>
          <a:spcPct val="114000"/>
        </a:lnSpc>
        <a:spcBef>
          <a:spcPts val="225"/>
        </a:spcBef>
        <a:spcAft>
          <a:spcPts val="225"/>
        </a:spcAft>
        <a:buClrTx/>
        <a:buSzPct val="76000"/>
        <a:buFont typeface="Wingdings" pitchFamily="2" charset="2"/>
        <a:buChar char="q"/>
        <a:defRPr lang="en-US" sz="713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16763" indent="-171456" algn="l" rtl="0" eaLnBrk="1" fontAlgn="base" hangingPunct="1">
        <a:spcBef>
          <a:spcPct val="0"/>
        </a:spcBef>
        <a:spcAft>
          <a:spcPts val="225"/>
        </a:spcAft>
        <a:buClrTx/>
        <a:buSzPct val="76000"/>
        <a:buFont typeface="Wingdings" panose="05000000000000000000" pitchFamily="2" charset="2"/>
        <a:buChar char="Ø"/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822748" indent="-171456" algn="l" rtl="0" eaLnBrk="1" fontAlgn="base" hangingPunct="1">
        <a:spcBef>
          <a:spcPts val="225"/>
        </a:spcBef>
        <a:spcAft>
          <a:spcPts val="225"/>
        </a:spcAft>
        <a:buClr>
          <a:srgbClr val="797951"/>
        </a:buClr>
        <a:buSzPct val="70000"/>
        <a:buFont typeface="Wingdings" pitchFamily="2" charset="2"/>
        <a:buChar char=""/>
        <a:defRPr sz="82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32" indent="-171456" algn="l" rtl="0" eaLnBrk="1" fontAlgn="base" hangingPunct="1">
        <a:spcBef>
          <a:spcPts val="225"/>
        </a:spcBef>
        <a:spcAft>
          <a:spcPts val="225"/>
        </a:spcAft>
        <a:buClr>
          <a:schemeClr val="accent2"/>
        </a:buClr>
        <a:buSzPct val="70000"/>
        <a:buFont typeface="Wingdings" pitchFamily="2" charset="2"/>
        <a:buChar char="Ø"/>
        <a:defRPr sz="825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1234479" indent="-137165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43" indent="-137165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807" indent="-137165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71" indent="-137165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6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571953"/>
              </p:ext>
            </p:extLst>
          </p:nvPr>
        </p:nvGraphicFramePr>
        <p:xfrm>
          <a:off x="380422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dirty="0">
                          <a:solidFill>
                            <a:schemeClr val="tx1"/>
                          </a:solidFill>
                        </a:rPr>
                        <a:t>Founded:</a:t>
                      </a:r>
                      <a:endParaRPr lang="en-US" sz="800" b="1" u="none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No. Stores: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4801" y="152401"/>
            <a:ext cx="8534400" cy="533400"/>
          </a:xfrm>
        </p:spPr>
        <p:txBody>
          <a:bodyPr/>
          <a:lstStyle/>
          <a:p>
            <a:r>
              <a:rPr lang="en-US" sz="1600" b="1" dirty="0"/>
              <a:t>BEST BUY | </a:t>
            </a:r>
            <a:r>
              <a:rPr lang="en-US" sz="1600" dirty="0"/>
              <a:t>TARGET COMPANY PROFILE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380422" y="1920240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ENTERPRISE VALUE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798791" y="1036709"/>
            <a:ext cx="0" cy="5463442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483374"/>
              </p:ext>
            </p:extLst>
          </p:nvPr>
        </p:nvGraphicFramePr>
        <p:xfrm>
          <a:off x="380422" y="2134036"/>
          <a:ext cx="2332298" cy="2080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Current Share Price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Shares Outstanding (mm)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Market Cap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Short-Term Debt 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Add: Long-Term Debt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Subtract: Cash and Equivalents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Enterprise Value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05308"/>
              </p:ext>
            </p:extLst>
          </p:nvPr>
        </p:nvGraphicFramePr>
        <p:xfrm>
          <a:off x="1558983" y="1430445"/>
          <a:ext cx="1163898" cy="426720"/>
        </p:xfrm>
        <a:graphic>
          <a:graphicData uri="http://schemas.openxmlformats.org/drawingml/2006/table">
            <a:tbl>
              <a:tblPr bandRow="1"/>
              <a:tblGrid>
                <a:gridCol w="688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Revenue: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800" b="1" u="none" baseline="0" dirty="0">
                          <a:solidFill>
                            <a:schemeClr val="tx1"/>
                          </a:solidFill>
                        </a:rPr>
                        <a:t>EBITDA: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34291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685821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028732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37164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1714553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057464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2400375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2743286" algn="l" rtl="0" eaLnBrk="1" latinLnBrk="0" hangingPunct="1">
                        <a:defRPr kumimoji="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kumimoji="0" lang="en-US" sz="800" kern="120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1E6F25D2-3C88-4998-9558-D05903593669}"/>
              </a:ext>
            </a:extLst>
          </p:cNvPr>
          <p:cNvSpPr/>
          <p:nvPr/>
        </p:nvSpPr>
        <p:spPr bwMode="auto">
          <a:xfrm>
            <a:off x="2870200" y="1012614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Business overview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A71E3B-DE31-416A-BCB5-B4FB9F25E937}"/>
              </a:ext>
            </a:extLst>
          </p:cNvPr>
          <p:cNvSpPr/>
          <p:nvPr/>
        </p:nvSpPr>
        <p:spPr bwMode="auto">
          <a:xfrm>
            <a:off x="2870200" y="1920240"/>
            <a:ext cx="57404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Recent News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766EB0-E5AF-16CD-8A03-456FAAA22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26973"/>
            <a:ext cx="797559" cy="46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27E42E-3E3C-7B75-E036-5DA9549F8839}"/>
              </a:ext>
            </a:extLst>
          </p:cNvPr>
          <p:cNvSpPr/>
          <p:nvPr/>
        </p:nvSpPr>
        <p:spPr bwMode="auto">
          <a:xfrm>
            <a:off x="380422" y="4272915"/>
            <a:ext cx="2332298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b"/>
            <a:r>
              <a:rPr lang="en-US" sz="800" b="1" kern="0" cap="all" dirty="0">
                <a:ea typeface="Roboto Lt" pitchFamily="2" charset="0"/>
                <a:cs typeface="Helvetica" panose="020B0604020202020204" pitchFamily="34" charset="0"/>
              </a:rPr>
              <a:t>LEADERSHIP TEAM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E71256-C6BF-53E1-BBFF-91401FB5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971196"/>
              </p:ext>
            </p:extLst>
          </p:nvPr>
        </p:nvGraphicFramePr>
        <p:xfrm>
          <a:off x="380422" y="4486711"/>
          <a:ext cx="2332298" cy="2080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</a:rPr>
                        <a:t>Chief Executive Officer</a:t>
                      </a:r>
                      <a:endParaRPr lang="en-US" sz="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Financial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Merchandising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Supply Chain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Customer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Technology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Chief Risk Officer</a:t>
                      </a: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marT="3683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9" name="TextBox 1028"/>
          <p:cNvSpPr txBox="1"/>
          <p:nvPr/>
        </p:nvSpPr>
        <p:spPr>
          <a:xfrm>
            <a:off x="457200" y="1371600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0921903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USE THIS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46C8D"/>
      </a:accent1>
      <a:accent2>
        <a:srgbClr val="C0504D"/>
      </a:accent2>
      <a:accent3>
        <a:srgbClr val="386A1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PP Presentation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 bwMode="auto">
        <a:solidFill>
          <a:srgbClr val="FDFF5A"/>
        </a:solidFill>
        <a:ln w="28575" cap="rnd" cmpd="sng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9484</TotalTime>
  <Words>270</Words>
  <Application>Microsoft Office PowerPoint</Application>
  <PresentationFormat>On-screen Show 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Cambria</vt:lpstr>
      <vt:lpstr>Roboto Lt</vt:lpstr>
      <vt:lpstr>Wingdings</vt:lpstr>
      <vt:lpstr>Wingdings 3</vt:lpstr>
      <vt:lpstr>2_USE THIS</vt:lpstr>
      <vt:lpstr>BEST BUY | TARGET COMPANY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Fencl</dc:creator>
  <cp:lastModifiedBy>Isha Rathee</cp:lastModifiedBy>
  <cp:revision>950</cp:revision>
  <cp:lastPrinted>2017-08-15T08:51:31Z</cp:lastPrinted>
  <dcterms:created xsi:type="dcterms:W3CDTF">2015-11-15T18:39:17Z</dcterms:created>
  <dcterms:modified xsi:type="dcterms:W3CDTF">2026-03-10T06:57:23Z</dcterms:modified>
</cp:coreProperties>
</file>